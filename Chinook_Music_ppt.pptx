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75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Raj" userId="2f258ee4401ad448" providerId="LiveId" clId="{FC3A8F4C-5B63-4FCB-ABAF-A949C8EACE51}"/>
    <pc:docChg chg="custSel modSld">
      <pc:chgData name="Rohit Raj" userId="2f258ee4401ad448" providerId="LiveId" clId="{FC3A8F4C-5B63-4FCB-ABAF-A949C8EACE51}" dt="2026-08-24T06:08:51.759" v="60" actId="29295"/>
      <pc:docMkLst>
        <pc:docMk/>
      </pc:docMkLst>
      <pc:sldChg chg="addSp modSp mod">
        <pc:chgData name="Rohit Raj" userId="2f258ee4401ad448" providerId="LiveId" clId="{FC3A8F4C-5B63-4FCB-ABAF-A949C8EACE51}" dt="2026-08-24T06:08:51.759" v="60" actId="29295"/>
        <pc:sldMkLst>
          <pc:docMk/>
          <pc:sldMk cId="0" sldId="256"/>
        </pc:sldMkLst>
        <pc:picChg chg="add mod">
          <ac:chgData name="Rohit Raj" userId="2f258ee4401ad448" providerId="LiveId" clId="{FC3A8F4C-5B63-4FCB-ABAF-A949C8EACE51}" dt="2026-08-24T06:08:51.759" v="60" actId="29295"/>
          <ac:picMkLst>
            <pc:docMk/>
            <pc:sldMk cId="0" sldId="256"/>
            <ac:picMk id="17" creationId="{D835CE74-FF6E-04BE-07DB-527B21263E4E}"/>
          </ac:picMkLst>
        </pc:picChg>
      </pc:sldChg>
      <pc:sldChg chg="addSp delSp modSp mod">
        <pc:chgData name="Rohit Raj" userId="2f258ee4401ad448" providerId="LiveId" clId="{FC3A8F4C-5B63-4FCB-ABAF-A949C8EACE51}" dt="2026-08-24T06:08:20.130" v="35" actId="29295"/>
        <pc:sldMkLst>
          <pc:docMk/>
          <pc:sldMk cId="0" sldId="273"/>
        </pc:sldMkLst>
        <pc:spChg chg="del">
          <ac:chgData name="Rohit Raj" userId="2f258ee4401ad448" providerId="LiveId" clId="{FC3A8F4C-5B63-4FCB-ABAF-A949C8EACE51}" dt="2026-08-24T06:03:24.987" v="3" actId="478"/>
          <ac:spMkLst>
            <pc:docMk/>
            <pc:sldMk cId="0" sldId="273"/>
            <ac:spMk id="15" creationId="{00000000-0000-0000-0000-000000000000}"/>
          </ac:spMkLst>
        </pc:spChg>
        <pc:spChg chg="del mod">
          <ac:chgData name="Rohit Raj" userId="2f258ee4401ad448" providerId="LiveId" clId="{FC3A8F4C-5B63-4FCB-ABAF-A949C8EACE51}" dt="2026-08-24T06:03:22.106" v="2" actId="478"/>
          <ac:spMkLst>
            <pc:docMk/>
            <pc:sldMk cId="0" sldId="273"/>
            <ac:spMk id="16" creationId="{00000000-0000-0000-0000-000000000000}"/>
          </ac:spMkLst>
        </pc:spChg>
        <pc:picChg chg="add mod">
          <ac:chgData name="Rohit Raj" userId="2f258ee4401ad448" providerId="LiveId" clId="{FC3A8F4C-5B63-4FCB-ABAF-A949C8EACE51}" dt="2026-08-24T06:08:20.130" v="35" actId="29295"/>
          <ac:picMkLst>
            <pc:docMk/>
            <pc:sldMk cId="0" sldId="273"/>
            <ac:picMk id="21" creationId="{AB0E0616-F0AA-A086-E2A8-BD07ACAAA48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10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03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UK</c:v>
                </c:pt>
                <c:pt idx="6">
                  <c:v>Czech Rep.</c:v>
                </c:pt>
                <c:pt idx="7">
                  <c:v>Portugal</c:v>
                </c:pt>
                <c:pt idx="8">
                  <c:v>India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2E-4EE9-BD99-AF84701347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EFEB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FEB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Invoices together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Rock + Metal</c:v>
                </c:pt>
                <c:pt idx="1">
                  <c:v>Rock + Alt. &amp; Punk</c:v>
                </c:pt>
                <c:pt idx="2">
                  <c:v>Metal + Alt. &amp; Punk</c:v>
                </c:pt>
                <c:pt idx="3">
                  <c:v>Rock + Latin</c:v>
                </c:pt>
                <c:pt idx="4">
                  <c:v>Rock + R&amp;B/Soul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</c:v>
                </c:pt>
                <c:pt idx="1">
                  <c:v>202</c:v>
                </c:pt>
                <c:pt idx="2">
                  <c:v>144</c:v>
                </c:pt>
                <c:pt idx="3">
                  <c:v>104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D3-4951-BB12-E0295BE64E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  <c:pt idx="5">
                  <c:v>UK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23.08</c:v>
                </c:pt>
                <c:pt idx="1">
                  <c:v>12.5</c:v>
                </c:pt>
                <c:pt idx="2">
                  <c:v>40</c:v>
                </c:pt>
                <c:pt idx="3">
                  <c:v>60</c:v>
                </c:pt>
                <c:pt idx="4">
                  <c:v>75</c:v>
                </c:pt>
                <c:pt idx="5">
                  <c:v>33.33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42-4CF9-B87B-64BE7C9D31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E8A38-496B-4563-B5D9-5F0E9A55182E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C1773-2143-4963-9EB3-D9A734AC4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5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41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inook_modern_music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73152" cy="4526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960120"/>
            <a:ext cx="5029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7DD3FC"/>
                </a:solidFill>
                <a:latin typeface="Aptos"/>
              </a:defRPr>
            </a:pPr>
            <a:r>
              <a:rPr dirty="0"/>
              <a:t>CHINOOK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4173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MUSIC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928966"/>
            <a:ext cx="2795016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E2E8F0"/>
                </a:solidFill>
                <a:latin typeface="Aptos"/>
              </a:defRPr>
            </a:pPr>
            <a:r>
              <a:rPr lang="en-IN" b="1" dirty="0">
                <a:solidFill>
                  <a:srgbClr val="E2E8F0"/>
                </a:solidFill>
                <a:latin typeface="Aptos"/>
              </a:rPr>
              <a:t>Presented by</a:t>
            </a:r>
            <a:r>
              <a:rPr lang="en-IN" sz="2800" b="1" dirty="0">
                <a:solidFill>
                  <a:srgbClr val="E2E8F0"/>
                </a:solidFill>
                <a:latin typeface="Aptos"/>
              </a:rPr>
              <a:t>:</a:t>
            </a:r>
            <a:br>
              <a:rPr lang="en-IN" sz="2800" b="1" dirty="0">
                <a:solidFill>
                  <a:srgbClr val="E2E8F0"/>
                </a:solidFill>
                <a:latin typeface="Aptos"/>
              </a:rPr>
            </a:br>
            <a:r>
              <a:rPr lang="en-IN" sz="2800" b="1" dirty="0">
                <a:solidFill>
                  <a:srgbClr val="E2E8F0"/>
                </a:solidFill>
                <a:latin typeface="Aptos"/>
              </a:rPr>
              <a:t>DEEKSHA BK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941832" y="5323255"/>
            <a:ext cx="5303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NEWTON SCHOOL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SQL Project | Chinook Database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35CE74-FF6E-04BE-07DB-527B21263E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3456432" y="-20574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 structured story from data to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566928" cy="56692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3533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362456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40280"/>
            <a:ext cx="566928" cy="56692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340864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2677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276856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Schema, tables &amp; analytical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566928" cy="56692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255264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1821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191256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Data quality + objective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69080"/>
            <a:ext cx="566928" cy="56692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169664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0965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105656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Customer, product &amp; regional 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566928" cy="56692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084064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0109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020056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Retention, cross-sell &amp; growth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1298448"/>
            <a:ext cx="1691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48672" y="169164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21488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57860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303580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456432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391363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434340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4892040"/>
            <a:ext cx="1280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E1C2F"/>
                </a:solidFill>
                <a:latin typeface="Aptos"/>
              </a:defRPr>
            </a:pPr>
            <a:r>
              <a:t>Management-ready</a:t>
            </a:r>
            <a:br/>
            <a:r>
              <a:t>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The project brief positions the analyst as an advisor to Chinook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789920" cy="1828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241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0E1C2F"/>
                </a:solidFill>
                <a:latin typeface="Aptos"/>
              </a:defRPr>
            </a:pPr>
            <a:r>
              <a:t>“Analyze music record sales data to gain insights and make recommendations for the company's strategy in the physical music market.”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E1C2F"/>
                </a:solidFill>
                <a:latin typeface="Aptos"/>
              </a:defRPr>
            </a:pPr>
            <a:r>
              <a:t>What management needs to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Where are sales and high-value customers concentrated?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Which tracks, artists, albums and genres drive demand?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Which customers are active, at risk, or likely to churn?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Which product combinations can support cross-selling?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How should limited marketing effort be prioritized?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Turn raw relational data into evidence-based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71600"/>
            <a:ext cx="5029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414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Validate missing values, duplicates and joins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5029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414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Measure revenue, invoices and geographic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5029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4414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Understand frequency, spending, churn and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4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291840"/>
            <a:ext cx="5029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4107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36168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Identify top tracks, genres, artists and affinities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9184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291840"/>
            <a:ext cx="50292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34107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36168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Translate findings into promotion, retention and cross-sell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E1C2F"/>
                </a:solidFill>
                <a:latin typeface="Aptos"/>
              </a:defRPr>
            </a:pPr>
            <a:r>
              <a:t>Core analytical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458968"/>
            <a:ext cx="8778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E1C2F"/>
                </a:solidFill>
                <a:latin typeface="Aptos"/>
              </a:defRPr>
            </a:pPr>
            <a:r>
              <a:t>Who buys • What they buy • Where they buy • How often • What to do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Data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The Chinook schema connects customers, transactions and music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417320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E1C2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426464"/>
            <a:ext cx="6217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customer_id • country • city • support_rep_id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167128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167128"/>
            <a:ext cx="6400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276856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2585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E1C2F"/>
                </a:solidFill>
                <a:latin typeface="Aptos"/>
              </a:defRPr>
            </a:pPr>
            <a:r>
              <a:t>invoice / invoice_line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267712"/>
            <a:ext cx="6217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invoice_id • customer_id • total • track_id • quantity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08376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008376"/>
            <a:ext cx="6400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118104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099816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E1C2F"/>
                </a:solidFill>
                <a:latin typeface="Aptos"/>
              </a:defRPr>
            </a:pPr>
            <a:r>
              <a:t>track / album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108960"/>
            <a:ext cx="6217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track_id • album_id • genre_id • artist_id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49624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849624"/>
            <a:ext cx="6400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95935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941063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E1C2F"/>
                </a:solidFill>
                <a:latin typeface="Aptos"/>
              </a:defRPr>
            </a:pPr>
            <a:r>
              <a:t>artist / genre / media_type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950208"/>
            <a:ext cx="6217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artist_id • genre_id • descriptive attributes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90872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4690872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782312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E1C2F"/>
                </a:solidFill>
                <a:latin typeface="Aptos"/>
              </a:defRPr>
            </a:pPr>
            <a:r>
              <a:t>playlist / playlist_track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791456"/>
            <a:ext cx="6217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playlist_id • track_id • playlist membership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806440"/>
            <a:ext cx="6766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Source structure follows the project-provided Chinook database schema.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Primary relationships used in the 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pic>
        <p:nvPicPr>
          <p:cNvPr id="10" name="Picture 9" descr="chinook_schem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7635240" cy="5257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132588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6276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Key relationship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148840"/>
            <a:ext cx="384048" cy="38404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87968" y="2203704"/>
            <a:ext cx="3474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39696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0E1C2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68296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who buys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807208"/>
            <a:ext cx="384048" cy="38404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2862072"/>
            <a:ext cx="3474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98064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0E1C2F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26664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what they spend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465576"/>
            <a:ext cx="384048" cy="38404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7968" y="3520440"/>
            <a:ext cx="3474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456432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0E1C2F"/>
                </a:solidFill>
                <a:latin typeface="Aptos"/>
              </a:defRPr>
            </a:pPr>
            <a:r>
              <a:t>Invoice_Line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685032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what they purchased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123944"/>
            <a:ext cx="384048" cy="38404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7968" y="4178807"/>
            <a:ext cx="3474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114800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0E1C2F"/>
                </a:solidFill>
                <a:latin typeface="Aptos"/>
              </a:defRPr>
            </a:pPr>
            <a:r>
              <a:t>Track → Album → Artist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343400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what product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782312"/>
            <a:ext cx="384048" cy="384048"/>
          </a:xfrm>
          <a:prstGeom prst="round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4837176"/>
            <a:ext cx="3474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773168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0E1C2F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001768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what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Q3  ·  CUSTOMER DEMOGRAPHICS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Chinook's Customers 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gender fields don't exist in Chinook, so the demographic breakdown is built entirely from location. The USA leads by a wide margin.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286000"/>
          <a:ext cx="7040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286000"/>
            <a:ext cx="3794760" cy="3977640"/>
          </a:xfrm>
          <a:prstGeom prst="rect">
            <a:avLst/>
          </a:prstGeom>
          <a:solidFill>
            <a:srgbClr val="1B1035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880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138160" y="3520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are based in the USA — the single largest market (13 customers)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38160" y="4343400"/>
            <a:ext cx="3200400" cy="0"/>
          </a:xfrm>
          <a:prstGeom prst="line">
            <a:avLst/>
          </a:prstGeom>
          <a:noFill/>
          <a:ln w="12700">
            <a:solidFill>
              <a:srgbClr val="473A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526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(13.56%) and Brazil / France (8.47% each) round out the top markets — together the top 4 countries hold over half the customer base.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Data Quality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Checks performed before interpreting business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71600"/>
            <a:ext cx="5029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5564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35000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Repeated invoice_id + track_id pairs were identified and treated as line-level purchase records, not blindly as customer duplicates.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716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371600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175564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35000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Missingness should be assessed column-by-column before modeling or aggregation.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3716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5029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14904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JOIN INFLATION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175564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Corrected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35000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Q11 was corrected by calculating customer spending separately from track quantity.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3375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Evidence from SQL</a:t>
            </a:r>
          </a:p>
        </p:txBody>
      </p:sp>
      <p:pic>
        <p:nvPicPr>
          <p:cNvPr id="26" name="Picture 25" descr="4a318ce2-4e9d-454b-a178-0be1bef499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657600"/>
            <a:ext cx="5349240" cy="19659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3794760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Aptos"/>
              </a:defRPr>
            </a:pPr>
            <a:r>
              <a:t>Result: duplicate-looking rows in invoice_line represent repeated track purchases within invoices; they are not automatically duplicate customer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Objective Analysis — Sales &amp;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Selected objective questions that anchor the management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502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44752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TOP USA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09928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12140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Largest customer base in Q11 output: 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325880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1444752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TOP AVG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709928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Czech Republic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12140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$136.62 per customer • 2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32588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444752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TOP TRACK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709928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Czech Republic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2140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138 average tracks per 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6324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56432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High averages in small countries should be treated cautiously because the sample is small.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Large markets such as the USA matter because customer scale can outweigh a lower average value.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Country performance should be evaluated using both customer count and customer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Q11: average spending and tracks were calculated at customer level first, then aggregated by country.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Product Affinity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Co-purchase behavior creates a measurable cross-selling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502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GENRE 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Rock + Metal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07568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268 invoices together • 43.65%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ARTIST 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Led Zeppelin + Green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07568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19 co-purchases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ALBUM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Are You Experienced? + Mezmerize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075688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14 co-purchases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85800" y="2880360"/>
          <a:ext cx="6035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040880" y="292608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How to use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383280"/>
            <a:ext cx="4251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• Build “customers also bought” recommendations.</a:t>
            </a:r>
          </a:p>
          <a:p>
            <a:pPr>
              <a:spcAft>
                <a:spcPts val="7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• Create genre-based bundles and cross-sell offers.</a:t>
            </a:r>
          </a:p>
          <a:p>
            <a:pPr>
              <a:spcAft>
                <a:spcPts val="7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• Use artist/album pairs for personalized discovery.</a:t>
            </a:r>
          </a:p>
          <a:p>
            <a:pPr>
              <a:spcAft>
                <a:spcPts val="7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• Do not treat association as proof of causation.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Customer Risk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Recency, frequency and spending turn transaction history into retention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5029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5 purchases • 178 days inactive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167127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Example: Diego Gutiérrez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801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5029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MEDIUM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13 purchases • $111.87 • 168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167127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Example: Manoj Pareek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5029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399031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664207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18 purchases • $144.54 • 18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67127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Example: Franktísek Wichter…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632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Retention strategy by segment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20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7033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096512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E1C2F"/>
                </a:solidFill>
                <a:latin typeface="Aptos"/>
              </a:defRPr>
            </a:pPr>
            <a:r>
              <a:t>Reactivation + personalized incentive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520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2" y="37033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096512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E1C2F"/>
                </a:solidFill>
                <a:latin typeface="Aptos"/>
              </a:defRPr>
            </a:pPr>
            <a:r>
              <a:t>Reminder + value recovery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520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19871" y="37033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1" y="4096512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E1C2F"/>
                </a:solidFill>
                <a:latin typeface="Aptos"/>
              </a:defRPr>
            </a:pPr>
            <a:r>
              <a:t>Loyalty + cross-sell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10287000" cy="685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358384"/>
            <a:ext cx="9829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E1C2F"/>
                </a:solidFill>
                <a:latin typeface="Aptos"/>
              </a:defRPr>
            </a:pPr>
            <a:r>
              <a:t>Priority rule: high historical value + long inactivity = highest-value retention target.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Regional 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Customer purchasing behavior and churn vary materially by geography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1325880"/>
          <a:ext cx="59893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40880" y="1417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What management should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t>• Germany: highest observed churn among the selected markets — investigate retention immediately.</a:t>
            </a:r>
          </a:p>
          <a:p>
            <a:pPr>
              <a:spcAft>
                <a:spcPts val="7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t>• Brazil: high purchasing activity but 60% churn — strong recovery opportunity.</a:t>
            </a:r>
          </a:p>
          <a:p>
            <a:pPr>
              <a:spcAft>
                <a:spcPts val="7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t>• USA: 13 customers and 23.08% churn — scale makes retention strategically important.</a:t>
            </a:r>
          </a:p>
          <a:p>
            <a:pPr>
              <a:spcAft>
                <a:spcPts val="7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t>• Small countries need cautious interpretation because one customer can materially change the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212080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64748B"/>
                </a:solidFill>
                <a:latin typeface="Aptos"/>
              </a:defRPr>
            </a:pPr>
            <a:r>
              <a:t>Churn is defined in the project analysis as no purchase in the 3 months before the latest invoice 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59591-ECCA-33EE-5588-5A636972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F497C-7A42-9732-16F0-219943A62A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A18086-F518-A03E-C8C8-6E0D156D3B62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B443E-2032-1806-7C6E-478A12293380}"/>
              </a:ext>
            </a:extLst>
          </p:cNvPr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Customer Purchasing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2C39C-9612-D368-D1F1-BCCCDFDBF1C7}"/>
              </a:ext>
            </a:extLst>
          </p:cNvPr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Long-term value is not only about recency — frequency and spend matter together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D3A4F1-BAC7-4405-0F5C-1AC71FF20FD6}"/>
              </a:ext>
            </a:extLst>
          </p:cNvPr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850F9-F39C-3511-5964-26845D0B7E1D}"/>
              </a:ext>
            </a:extLst>
          </p:cNvPr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481EE-F77C-C1FB-5B3E-45A54CE15E31}"/>
              </a:ext>
            </a:extLst>
          </p:cNvPr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2BD64-1062-80E9-4A1D-4CDEF2997526}"/>
              </a:ext>
            </a:extLst>
          </p:cNvPr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B6907A2-ACED-EF4D-1D2D-260D210877D1}"/>
              </a:ext>
            </a:extLst>
          </p:cNvPr>
          <p:cNvSpPr/>
          <p:nvPr/>
        </p:nvSpPr>
        <p:spPr>
          <a:xfrm>
            <a:off x="68580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6BF660-14BC-45FC-B4D9-DA2851053D9A}"/>
              </a:ext>
            </a:extLst>
          </p:cNvPr>
          <p:cNvSpPr/>
          <p:nvPr/>
        </p:nvSpPr>
        <p:spPr>
          <a:xfrm>
            <a:off x="685800" y="1325880"/>
            <a:ext cx="5029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04A0A-EA18-3030-6414-1F8752F9983E}"/>
              </a:ext>
            </a:extLst>
          </p:cNvPr>
          <p:cNvSpPr txBox="1"/>
          <p:nvPr/>
        </p:nvSpPr>
        <p:spPr>
          <a:xfrm>
            <a:off x="850392" y="144475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LONG-TERM CUSTOMER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C30D6B-31BE-71B1-D01F-1F2E73478D57}"/>
              </a:ext>
            </a:extLst>
          </p:cNvPr>
          <p:cNvSpPr txBox="1"/>
          <p:nvPr/>
        </p:nvSpPr>
        <p:spPr>
          <a:xfrm>
            <a:off x="850392" y="170992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Higher cumulative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9C4E3-3849-C15C-4C79-649DDE82FE73}"/>
              </a:ext>
            </a:extLst>
          </p:cNvPr>
          <p:cNvSpPr txBox="1"/>
          <p:nvPr/>
        </p:nvSpPr>
        <p:spPr>
          <a:xfrm>
            <a:off x="850392" y="22128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More purchase history → stronger basis for loyalty segmentation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05EE11-8E2C-8305-76F4-AF96AEE55000}"/>
              </a:ext>
            </a:extLst>
          </p:cNvPr>
          <p:cNvSpPr/>
          <p:nvPr/>
        </p:nvSpPr>
        <p:spPr>
          <a:xfrm>
            <a:off x="4434840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99661-8745-5136-6DC8-B53ED3E11B5D}"/>
              </a:ext>
            </a:extLst>
          </p:cNvPr>
          <p:cNvSpPr/>
          <p:nvPr/>
        </p:nvSpPr>
        <p:spPr>
          <a:xfrm>
            <a:off x="4434840" y="1325880"/>
            <a:ext cx="5029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DC27F3-6FE1-A08C-A773-4E97B1F3724B}"/>
              </a:ext>
            </a:extLst>
          </p:cNvPr>
          <p:cNvSpPr txBox="1"/>
          <p:nvPr/>
        </p:nvSpPr>
        <p:spPr>
          <a:xfrm>
            <a:off x="4599431" y="144475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NEWER CUSTOMER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00DF0-A32F-7F3A-5FEF-4582BD7F12B0}"/>
              </a:ext>
            </a:extLst>
          </p:cNvPr>
          <p:cNvSpPr txBox="1"/>
          <p:nvPr/>
        </p:nvSpPr>
        <p:spPr>
          <a:xfrm>
            <a:off x="4599431" y="170992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Lower observed history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04865E-5E0C-9C1E-808A-CD474F01129D}"/>
              </a:ext>
            </a:extLst>
          </p:cNvPr>
          <p:cNvSpPr txBox="1"/>
          <p:nvPr/>
        </p:nvSpPr>
        <p:spPr>
          <a:xfrm>
            <a:off x="4599431" y="22128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Needs activation and repeat-purchase encouragement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B03388-8878-B09D-A67B-C941B1E3202E}"/>
              </a:ext>
            </a:extLst>
          </p:cNvPr>
          <p:cNvSpPr/>
          <p:nvPr/>
        </p:nvSpPr>
        <p:spPr>
          <a:xfrm>
            <a:off x="8183879" y="1325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633024-D9F1-2974-74EA-0801388E6A54}"/>
              </a:ext>
            </a:extLst>
          </p:cNvPr>
          <p:cNvSpPr/>
          <p:nvPr/>
        </p:nvSpPr>
        <p:spPr>
          <a:xfrm>
            <a:off x="8183879" y="1325880"/>
            <a:ext cx="5029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814F55-A0F1-3E0A-80D7-AC604DB5FDE5}"/>
              </a:ext>
            </a:extLst>
          </p:cNvPr>
          <p:cNvSpPr txBox="1"/>
          <p:nvPr/>
        </p:nvSpPr>
        <p:spPr>
          <a:xfrm>
            <a:off x="8348471" y="144475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ANALYTICAL LENS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59B382-7CCB-0FEC-042E-8461B4FD19C0}"/>
              </a:ext>
            </a:extLst>
          </p:cNvPr>
          <p:cNvSpPr txBox="1"/>
          <p:nvPr/>
        </p:nvSpPr>
        <p:spPr>
          <a:xfrm>
            <a:off x="8348471" y="170992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0E1C2F"/>
                </a:solidFill>
                <a:latin typeface="Aptos"/>
              </a:defRPr>
            </a:pPr>
            <a:r>
              <a:t>Frequency × basket × spend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21AB3-2D8A-1C04-7057-9421D178145F}"/>
              </a:ext>
            </a:extLst>
          </p:cNvPr>
          <p:cNvSpPr txBox="1"/>
          <p:nvPr/>
        </p:nvSpPr>
        <p:spPr>
          <a:xfrm>
            <a:off x="8348471" y="2212848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Compare cohorts rather than raw customer totals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67713A-ACC9-5C6D-B7E4-1967CB18FE02}"/>
              </a:ext>
            </a:extLst>
          </p:cNvPr>
          <p:cNvSpPr txBox="1"/>
          <p:nvPr/>
        </p:nvSpPr>
        <p:spPr>
          <a:xfrm>
            <a:off x="731520" y="3246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Retention insight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6E467D-6BAC-74C8-C273-0F6145878F91}"/>
              </a:ext>
            </a:extLst>
          </p:cNvPr>
          <p:cNvSpPr txBox="1"/>
          <p:nvPr/>
        </p:nvSpPr>
        <p:spPr>
          <a:xfrm>
            <a:off x="731520" y="3657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High-frequency customers are natural loyalty-program candidates.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Customers with historically high spending but growing purchase gaps are prime win-back targets.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New customers should be moved from first purchase → second purchase → habitual purchase.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Track repeat rate, average basket size and purchase frequency by cohort.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9614CA-3CD3-AC1F-B8AE-457FC82473BC}"/>
              </a:ext>
            </a:extLst>
          </p:cNvPr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C46BA-7F56-CAD1-1995-D5ED01E52EBE}"/>
              </a:ext>
            </a:extLst>
          </p:cNvPr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231718F-1F7F-B156-F661-205C1ABA7307}"/>
              </a:ext>
            </a:extLst>
          </p:cNvPr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7967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Promotion Measurement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The current Chinook schema does not contain campaign exposure data — so the correct answer is a measurement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Required experimental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93392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E1C2F"/>
                </a:solidFill>
                <a:latin typeface="Aptos"/>
              </a:defRPr>
            </a:pPr>
            <a:r>
              <a:t>Customers exposed to campaign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8308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993392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E1C2F"/>
                </a:solidFill>
                <a:latin typeface="Aptos"/>
              </a:defRPr>
            </a:pPr>
            <a:r>
              <a:t>Comparable customers not exposed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78308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2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3172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E1C2F"/>
                </a:solidFill>
                <a:latin typeface="Aptos"/>
              </a:defRPr>
            </a:pPr>
            <a:r>
              <a:t>Revenue, retention,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E1C2F"/>
                </a:solidFill>
                <a:latin typeface="Aptos"/>
              </a:defRPr>
            </a:pPr>
            <a:r>
              <a:t>Core formulas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10515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950208"/>
            <a:ext cx="9966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E1C2F"/>
                </a:solidFill>
                <a:latin typeface="Aptos"/>
              </a:defRPr>
            </a:pPr>
            <a:r>
              <a:t>Acquisition uplift  =  (Campaign rate − Control rate) / Control rate 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9966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E1C2F"/>
                </a:solidFill>
                <a:latin typeface="Aptos"/>
              </a:defRPr>
            </a:pPr>
            <a:r>
              <a:t>Sales uplift  =  (Campaign sales − Expected sales) / Expected sales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8"/>
            <a:ext cx="9966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E1C2F"/>
                </a:solidFill>
                <a:latin typeface="Aptos"/>
              </a:defRPr>
            </a:pPr>
            <a:r>
              <a:t>ROI  =  (Incremental revenue − Campaign cost) / Campaign cost ×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This prevents raw post-campaign sales from being mistaken for incremental impact.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Data Limitations &amp; Analytical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Strong analytics also requires knowing what the dataset cannot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CAVEAT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71600"/>
            <a:ext cx="54864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AGE &amp; GENDER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E1C2F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Not present in the provided Chinook customer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68880"/>
            <a:ext cx="4526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Do not invent demographic conclusions.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Aptos"/>
              </a:defRPr>
            </a:pPr>
            <a:r>
              <a:t>PROMOTION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84248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E1C2F"/>
                </a:solidFill>
                <a:latin typeface="Aptos"/>
              </a:defRPr>
            </a:pPr>
            <a:r>
              <a:t>No campaign exposure, discount or marketing-cost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4526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Q8 requires a proposed measurement framework.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54864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53872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ptos"/>
              </a:defRPr>
            </a:pPr>
            <a:r>
              <a:t>ECONOMIC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50208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E1C2F"/>
                </a:solidFill>
                <a:latin typeface="Aptos"/>
              </a:defRPr>
            </a:pPr>
            <a:r>
              <a:t>No local income, market-size or macroeconomic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4526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External enrichment would be required.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375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33756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53872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ptos"/>
              </a:defRPr>
            </a:pPr>
            <a:r>
              <a:t>SMALL COUNTRY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50208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E1C2F"/>
                </a:solidFill>
                <a:latin typeface="Aptos"/>
              </a:defRPr>
            </a:pPr>
            <a:r>
              <a:t>Some countries have 1–2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34840"/>
            <a:ext cx="4526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Use averages carefully; prioritize both scale and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E1C2F"/>
                </a:solidFill>
                <a:latin typeface="Aptos"/>
              </a:defRPr>
            </a:pPr>
            <a:r>
              <a:t>Management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Prioritize actions that are directly supported by the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10896"/>
            <a:ext cx="96012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0192" y="338328"/>
            <a:ext cx="9052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64748B"/>
                </a:solidFill>
              </a:rPr>
              <a:t>CHINOOK • SQL 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170432"/>
            <a:ext cx="10835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170432"/>
            <a:ext cx="594360" cy="777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380744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280160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261872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E1C2F"/>
                </a:solidFill>
                <a:latin typeface="Aptos"/>
              </a:defRPr>
            </a:pPr>
            <a:r>
              <a:t>Target high-value inactive customers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261872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Use recency + historical spend to drive win-back campaigns.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139696"/>
            <a:ext cx="10835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2139696"/>
            <a:ext cx="5943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350008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24942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CROSS-SELL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231136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E1C2F"/>
                </a:solidFill>
                <a:latin typeface="Aptos"/>
              </a:defRPr>
            </a:pPr>
            <a:r>
              <a:t>Operationalize product affinity.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31136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Recommend Rock → Metal and strong artist/album pairs.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08960"/>
            <a:ext cx="10835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3108960"/>
            <a:ext cx="59436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319272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218688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t>MARKET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200400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E1C2F"/>
                </a:solidFill>
                <a:latin typeface="Aptos"/>
              </a:defRPr>
            </a:pPr>
            <a:r>
              <a:t>Balance scale with customer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Protect the USA base while investigating high-value smaller markets.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078224"/>
            <a:ext cx="10835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4078224"/>
            <a:ext cx="59436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288536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1879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ptos"/>
              </a:defRPr>
            </a:pPr>
            <a:r>
              <a:t>REGIONAL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169663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E1C2F"/>
                </a:solidFill>
                <a:latin typeface="Aptos"/>
              </a:defRPr>
            </a:pPr>
            <a:r>
              <a:t>Investigate high churn.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69663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Germany and Brazil warrant targeted retention diagnostics.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47488"/>
            <a:ext cx="10835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85800" y="5047488"/>
            <a:ext cx="59436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525780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157216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138928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E1C2F"/>
                </a:solidFill>
                <a:latin typeface="Aptos"/>
              </a:defRPr>
            </a:pPr>
            <a:r>
              <a:t>Build campaign tracking.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3892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Add campaign exposure, cost and response fields to quantify incremental ROI.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6539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109960" y="219456"/>
            <a:ext cx="502920" cy="292608"/>
          </a:xfrm>
          <a:prstGeom prst="round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hinook_modern_music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57377"/>
            <a:ext cx="75895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A SQL project that answers</a:t>
            </a:r>
            <a:br>
              <a:rPr sz="1600" dirty="0"/>
            </a:br>
            <a:r>
              <a:rPr sz="1600" dirty="0"/>
              <a:t>business questions — not just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6967" y="2802238"/>
            <a:ext cx="306041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4800" i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1483</Words>
  <Application>Microsoft Office PowerPoint</Application>
  <PresentationFormat>Widescreen</PresentationFormat>
  <Paragraphs>297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DEEKSHA</dc:creator>
  <cp:keywords/>
  <dc:description>generated using python-pptx</dc:description>
  <cp:lastModifiedBy>deeksha bk</cp:lastModifiedBy>
  <cp:revision>4</cp:revision>
  <dcterms:created xsi:type="dcterms:W3CDTF">2013-01-27T09:14:16Z</dcterms:created>
  <dcterms:modified xsi:type="dcterms:W3CDTF">2026-08-24T06:43:08Z</dcterms:modified>
  <cp:category/>
</cp:coreProperties>
</file>